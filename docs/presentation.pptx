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64008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457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 dirty="0">
                <a:solidFill>
                  <a:srgbClr val="FFFFFF"/>
                </a:solidFill>
                <a:latin typeface="Calibri"/>
              </a:rPr>
              <a:t>Fake News Detection on LIAR</a:t>
            </a:r>
          </a:p>
          <a:p>
            <a:r>
              <a:rPr sz="2200" b="0" i="0" dirty="0" err="1">
                <a:solidFill>
                  <a:srgbClr val="EEF3F8"/>
                </a:solidFill>
                <a:latin typeface="Calibri"/>
              </a:rPr>
              <a:t>Разпознаване</a:t>
            </a:r>
            <a:r>
              <a:rPr sz="2200" b="0" i="0" dirty="0">
                <a:solidFill>
                  <a:srgbClr val="EEF3F8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EEF3F8"/>
                </a:solidFill>
                <a:latin typeface="Calibri"/>
              </a:rPr>
              <a:t>на</a:t>
            </a:r>
            <a:r>
              <a:rPr sz="2200" b="0" i="0" dirty="0">
                <a:solidFill>
                  <a:srgbClr val="EEF3F8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EEF3F8"/>
                </a:solidFill>
                <a:latin typeface="Calibri"/>
              </a:rPr>
              <a:t>фалшиви</a:t>
            </a:r>
            <a:r>
              <a:rPr sz="2200" b="0" i="0" dirty="0">
                <a:solidFill>
                  <a:srgbClr val="EEF3F8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EEF3F8"/>
                </a:solidFill>
                <a:latin typeface="Calibri"/>
              </a:rPr>
              <a:t>новини</a:t>
            </a:r>
            <a:r>
              <a:rPr sz="2200" b="0" i="0" dirty="0">
                <a:solidFill>
                  <a:srgbClr val="EEF3F8"/>
                </a:solidFill>
                <a:latin typeface="Calibri"/>
              </a:rPr>
              <a:t> — classify a statement by its truthfulness</a:t>
            </a:r>
            <a:endParaRPr lang="en-US" sz="2200" b="0" i="0" dirty="0">
              <a:solidFill>
                <a:srgbClr val="EEF3F8"/>
              </a:solidFill>
              <a:latin typeface="Calibri"/>
            </a:endParaRPr>
          </a:p>
          <a:p>
            <a:r>
              <a:rPr lang="bg-BG" sz="2200" b="0" i="0" dirty="0">
                <a:solidFill>
                  <a:srgbClr val="EEF3F8"/>
                </a:solidFill>
                <a:latin typeface="Calibri"/>
              </a:rPr>
              <a:t>Габриела </a:t>
            </a:r>
            <a:r>
              <a:rPr lang="bg-BG" sz="2200" b="0" i="0" dirty="0" err="1">
                <a:solidFill>
                  <a:srgbClr val="EEF3F8"/>
                </a:solidFill>
                <a:latin typeface="Calibri"/>
              </a:rPr>
              <a:t>Костева</a:t>
            </a:r>
            <a:r>
              <a:rPr lang="bg-BG" sz="2200" dirty="0">
                <a:solidFill>
                  <a:srgbClr val="EEF3F8"/>
                </a:solidFill>
                <a:latin typeface="Calibri"/>
              </a:rPr>
              <a:t>, 2</a:t>
            </a:r>
            <a:r>
              <a:rPr lang="en-US" sz="2200" dirty="0">
                <a:solidFill>
                  <a:srgbClr val="EEF3F8"/>
                </a:solidFill>
                <a:latin typeface="Calibri"/>
              </a:rPr>
              <a:t>MI3400845</a:t>
            </a:r>
            <a:endParaRPr sz="2200" b="0" i="0" dirty="0">
              <a:solidFill>
                <a:srgbClr val="EEF3F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29900"/>
                </a:solidFill>
                <a:latin typeface="Calibri"/>
              </a:rPr>
              <a:t>Deep Learning project  ·  LIAR dataset + Streamlit web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Problem &amp; motivation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Misinformation spreads faster than human fact-checking can keep up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Goal: given a short statement, automatically predict how truthful it is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Two framings of the same problem: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555F6B"/>
                </a:solidFill>
                <a:latin typeface="Calibri"/>
              </a:rPr>
              <a:t>   – six-class — the full truth scale: pants-fire → false → barely-true → half-true → mostly-true → true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555F6B"/>
                </a:solidFill>
                <a:latin typeface="Calibri"/>
              </a:rPr>
              <a:t>   – binary — a fake / real collapse of that scale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Delivered as an interactive web app, not just a notebook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Related work &amp; techniques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Step 1 —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Wang (2017), "Liar, Liar Pants on Fire" — introduces the LIAR benchmark</a:t>
            </a:r>
          </a:p>
          <a:p>
            <a:pPr lvl="1">
              <a:spcAft>
                <a:spcPts val="800"/>
              </a:spcAft>
            </a:pPr>
            <a:r>
              <a:rPr sz="1800" b="0" i="0" dirty="0">
                <a:solidFill>
                  <a:srgbClr val="555F6B"/>
                </a:solidFill>
                <a:latin typeface="Calibri"/>
              </a:rPr>
              <a:t>   – Reported ceilings: ≈0.27 six-class / ≈0.65 binary accuracy (text-only)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Fake-news detection surveys: linguistic, neural and transformer approaches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Word-embedding evolution explored in this project:</a:t>
            </a:r>
          </a:p>
          <a:p>
            <a:pPr lvl="1">
              <a:spcAft>
                <a:spcPts val="800"/>
              </a:spcAft>
            </a:pPr>
            <a:r>
              <a:rPr sz="1800" b="0" i="0" dirty="0">
                <a:solidFill>
                  <a:srgbClr val="555F6B"/>
                </a:solidFill>
                <a:latin typeface="Calibri"/>
              </a:rPr>
              <a:t>   – TF-IDF  →  Word2Vec / </a:t>
            </a:r>
            <a:r>
              <a:rPr sz="1800" b="0" i="0" dirty="0" err="1">
                <a:solidFill>
                  <a:srgbClr val="555F6B"/>
                </a:solidFill>
                <a:latin typeface="Calibri"/>
              </a:rPr>
              <a:t>GloVe</a:t>
            </a:r>
            <a:r>
              <a:rPr sz="1800" b="0" i="0" dirty="0">
                <a:solidFill>
                  <a:srgbClr val="555F6B"/>
                </a:solidFill>
                <a:latin typeface="Calibri"/>
              </a:rPr>
              <a:t> / </a:t>
            </a:r>
            <a:r>
              <a:rPr sz="1800" b="0" i="0" dirty="0" err="1">
                <a:solidFill>
                  <a:srgbClr val="555F6B"/>
                </a:solidFill>
                <a:latin typeface="Calibri"/>
              </a:rPr>
              <a:t>FastText</a:t>
            </a:r>
            <a:r>
              <a:rPr sz="1800" b="0" i="0" dirty="0">
                <a:solidFill>
                  <a:srgbClr val="555F6B"/>
                </a:solidFill>
                <a:latin typeface="Calibri"/>
              </a:rPr>
              <a:t>  →  contextual (BERT family)</a:t>
            </a:r>
          </a:p>
          <a:p>
            <a:pPr lvl="1">
              <a:spcAft>
                <a:spcPts val="800"/>
              </a:spcAft>
            </a:pPr>
            <a:r>
              <a:rPr sz="1800" b="0" i="0" dirty="0">
                <a:solidFill>
                  <a:srgbClr val="555F6B"/>
                </a:solidFill>
                <a:latin typeface="Calibri"/>
              </a:rPr>
              <a:t>   – Recurrent encoders (LSTM / GRU) for sequence modelling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The data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Step 2 — 12,836 statements, official train/valid/test split</a:t>
            </a:r>
          </a:p>
        </p:txBody>
      </p:sp>
      <p:pic>
        <p:nvPicPr>
          <p:cNvPr id="5" name="Picture 4" descr="label_distribution_s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486400" cy="3135086"/>
          </a:xfrm>
          <a:prstGeom prst="rect">
            <a:avLst/>
          </a:prstGeom>
        </p:spPr>
      </p:pic>
      <p:pic>
        <p:nvPicPr>
          <p:cNvPr id="6" name="Picture 5" descr="statement_leng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F6B"/>
                </a:solidFill>
                <a:latin typeface="Calibri"/>
              </a:rPr>
              <a:t>14 features: statement + speaker / party / subject / context + 5 credit-history counts.  Labels ≈ balanced 6-way; statements ≈ 18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Exploratory analysis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Step 2 — statistical dependencies &amp; anomalies</a:t>
            </a:r>
          </a:p>
        </p:txBody>
      </p:sp>
      <p:pic>
        <p:nvPicPr>
          <p:cNvPr id="5" name="Picture 4" descr="credit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486400" cy="2743200"/>
          </a:xfrm>
          <a:prstGeom prst="rect">
            <a:avLst/>
          </a:prstGeom>
        </p:spPr>
      </p:pic>
      <p:pic>
        <p:nvPicPr>
          <p:cNvPr id="6" name="Picture 5" descr="part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F6B"/>
                </a:solidFill>
                <a:latin typeface="Calibri"/>
              </a:rPr>
              <a:t>Speaker credit-history and party affiliation correlate with truthfulness. Anomalies: 129 missing contexts, 26 duplicate statements.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Why LIAR is hard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Setting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Only one short sentence — no article body, no external evidence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Adjacent labels are subjective (barely-true vs half-true vs mostly-true)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Six near-balanced classes → random chance ≈ 16.7%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Published deep models mostly land in the 0.25–0.29 six-class range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So absolute six-class accuracy looks modest by nature — macro-F1 vs the baseline is the honest measure of progress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Pipeline &amp; preprocessing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Step 2–3 — from raw TSV to tensors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clean_text: lowercase, strip URLs / punctuation, keep digits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Vocabulary: frequency-capped token→id map with &lt;pad&gt; and &lt;unk&gt;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Statements encoded to fixed-length padded id sequences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Majority-class baseline = the reference every model must beat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Macro-F1 chosen as the primary metric (robust to class imbalance)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Embedding experiments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Step 3 — how words become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TF-IDF + logistic regression — sparse bag-of-words baseline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Learned nn.Embedding layer — trained end-to-end with the RNN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Word2Vec &amp; FastText — trained on the LIAR corpus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GloVe — pre-trained 100-d vectors loaded from file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Take-away: corpus-trained Word2Vec / FastText gave the best macro-F1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Recurrent models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Step 4 — GRU &amp; LSTM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LSTM vs GRU on an identical setup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</a:t>
            </a:r>
            <a:r>
              <a:rPr sz="2000" b="1" i="0" dirty="0" err="1">
                <a:solidFill>
                  <a:srgbClr val="1F2937"/>
                </a:solidFill>
                <a:latin typeface="Calibri"/>
              </a:rPr>
              <a:t>Regularisation</a:t>
            </a:r>
            <a:r>
              <a:rPr sz="2000" b="1" i="0" dirty="0">
                <a:solidFill>
                  <a:srgbClr val="1F2937"/>
                </a:solidFill>
                <a:latin typeface="Calibri"/>
              </a:rPr>
              <a:t>: dropout and </a:t>
            </a:r>
            <a:r>
              <a:rPr sz="2000" b="1" i="0" dirty="0" err="1">
                <a:solidFill>
                  <a:srgbClr val="1F2937"/>
                </a:solidFill>
                <a:latin typeface="Calibri"/>
              </a:rPr>
              <a:t>AdamW</a:t>
            </a:r>
            <a:r>
              <a:rPr sz="2000" b="1" i="0" dirty="0">
                <a:solidFill>
                  <a:srgbClr val="1F2937"/>
                </a:solidFill>
                <a:latin typeface="Calibri"/>
              </a:rPr>
              <a:t> weight decay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Capacity sweep: wider hidden state and a second layer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Masked mean pooling over real tokens → linear classifier head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Transformer models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Step 5 — contextual fine-tuning (opt-in)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BERT, RoBERTa, DistilBERT and GPT-2 via HuggingFace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AutoModelForSequenceClassification, one code path for all four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Trade-off: higher potential accuracy vs much higher compute cost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Opt-in in the pipeline (python run.py --transformers) to stay laptop-friendly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Results — six-class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Macro-F1 is the primary metric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1153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0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0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vs baseline (F1)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Baseline (majority class)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TF-IDF + 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+355%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LSTM (learned embedding)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+386%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GRU (learned embedding)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+385%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B3D5C"/>
                          </a:solidFill>
                          <a:latin typeface="Calibri"/>
                        </a:rPr>
                        <a:t>BiLSTM + Word2Vec  (best)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B3D5C"/>
                          </a:solidFill>
                          <a:latin typeface="Calibri"/>
                        </a:rPr>
                        <a:t>0.292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B3D5C"/>
                          </a:solidFill>
                          <a:latin typeface="Calibri"/>
                        </a:rPr>
                        <a:t>0.293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B3D5C"/>
                          </a:solidFill>
                          <a:latin typeface="Calibri"/>
                        </a:rPr>
                        <a:t>+411%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F6B"/>
                </a:solidFill>
                <a:latin typeface="Calibri"/>
              </a:rPr>
              <a:t>Best six-class model: BiLSTM + Word2Vec — macro-F1 0.293, accuracy 0.292.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Results — binary (fake / real)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The same models, easier task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1153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0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0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vs baseline (F1)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Baseline (majority class)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TF-IDF + 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+74%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BiGRU + 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+76%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BiLSTM + Word2Vec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0.640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+77%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B3D5C"/>
                          </a:solidFill>
                          <a:latin typeface="Calibri"/>
                        </a:rPr>
                        <a:t>BiLSTM + FastText  (best)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B3D5C"/>
                          </a:solidFill>
                          <a:latin typeface="Calibri"/>
                        </a:rPr>
                        <a:t>0.642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B3D5C"/>
                          </a:solidFill>
                          <a:latin typeface="Calibri"/>
                        </a:rPr>
                        <a:t>0.641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B3D5C"/>
                          </a:solidFill>
                          <a:latin typeface="Calibri"/>
                        </a:rPr>
                        <a:t>+77%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F6B"/>
                </a:solidFill>
                <a:latin typeface="Calibri"/>
              </a:rPr>
              <a:t>Best binary model: BiLSTM + FastText — macro-F1 0.641, accuracy 0.642.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Best model diagnostics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Six-class — confusion matrix &amp; learning curves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486400" cy="4572000"/>
          </a:xfrm>
          <a:prstGeom prst="rect">
            <a:avLst/>
          </a:prstGeom>
        </p:spPr>
      </p:pic>
      <p:pic>
        <p:nvPicPr>
          <p:cNvPr id="6" name="Picture 5" descr="train_val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F6B"/>
                </a:solidFill>
                <a:latin typeface="Calibri"/>
              </a:rPr>
              <a:t>Errors concentrate on adjacent truth labels; train/val macro-F1 tracks closely (early stopping prevents overfitting).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Web application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Step 6 — Streamlit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Type or pick a statement, choose six-class or binary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Returns the predicted label, a plain-language explanation, confidence and a probability bar chart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Loads the saved best model; falls back to TF-IDF if no artifact exists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Tip: use real political-style claims — generic facts are out-of-domain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Testing &amp; engineering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Quality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Behaviour-driven unit tests: test_when_&lt;condition&gt;_then_&lt;expectation&gt;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100% statement coverage of the src package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Clean yapf / isort / mypy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Reproducible: fixed seeds; Word2Vec/FastText/TF-IDF keep it runnable offline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▪  Turn-key: one command runs baseline → embeddings → RNNs → report + figures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  <a:p>
            <a:r>
              <a:rPr sz="1300" b="0" i="0">
                <a:solidFill>
                  <a:srgbClr val="EEF3F8"/>
                </a:solidFill>
                <a:latin typeface="Calibri"/>
              </a:rPr>
              <a:t>Where to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English only, no external evidence retrieval, subjective ordinal scale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Metadata fusion — add speaker / party / credit-history as features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Ordinal-aware loss that respects the truth ordering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Transformer fine-tuning at full scale on GPU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F2937"/>
                </a:solidFill>
                <a:latin typeface="Calibri"/>
              </a:rPr>
              <a:t>▪  Probability calibration and explainability for the verdicts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64008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  <a:p>
            <a:r>
              <a:rPr sz="1800" b="0" i="0">
                <a:solidFill>
                  <a:srgbClr val="EEF3F8"/>
                </a:solidFill>
                <a:latin typeface="Calibri"/>
              </a:rPr>
              <a:t>Fake News Detection on LIAR · six-class &amp; binary · Streamlit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ea0679f-09fa-4528-8ac1-fa7f6af28b52}" enabled="1" method="Standard" siteId="{07018c2a-e7d8-4bf1-9456-092ad6aecf0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965</Words>
  <Application>Microsoft Macintosh PowerPoint</Application>
  <PresentationFormat>Widescreen</PresentationFormat>
  <Paragraphs>138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Gabriela Kosteva</cp:lastModifiedBy>
  <cp:revision>2</cp:revision>
  <dcterms:created xsi:type="dcterms:W3CDTF">2013-01-27T09:14:16Z</dcterms:created>
  <dcterms:modified xsi:type="dcterms:W3CDTF">2026-06-23T05:41:43Z</dcterms:modified>
  <cp:category/>
</cp:coreProperties>
</file>